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Defense: Clean pipeline + recall-optimized model.</a:t>
            </a:r>
          </a:p>
          <a:p>
            <a:r>
              <a:t>15-minute presentation with code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FN cost &gt; FP cost: missing a hit is unacceptable.</a:t>
            </a:r>
          </a:p>
          <a:p>
            <a:r>
              <a:t>Target from owners (pre-launch), not playtime (post-launch leak).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Pre-Launch Visibility of Steam 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3 Final Defense - Recall-First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"/>
            </a:pPr>
          </a:p>
          <a:p>
            <a:pPr lvl="1">
              <a:defRPr sz="1800"/>
            </a:pPr>
            <a:r>
              <a:t>Student: Ahmet Sadi Egici</a:t>
            </a:r>
          </a:p>
          <a:p>
            <a:pPr lvl="1">
              <a:defRPr sz="1800"/>
            </a:pPr>
            <a:r>
              <a:t>Course: Machine Learning Capstone Project</a:t>
            </a:r>
          </a:p>
          <a:p>
            <a:pPr lvl="1">
              <a:defRPr sz="1800"/>
            </a:pPr>
            <a:r>
              <a:t>Date: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Business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Problem &amp; KPI</a:t>
            </a:r>
          </a:p>
          <a:p>
            <a:pPr lvl="1">
              <a:defRPr sz="1500"/>
            </a:pPr>
            <a:r>
              <a:t>Objective: Predict high-visibility launches before release using Steam metadata.</a:t>
            </a:r>
          </a:p>
          <a:p>
            <a:pPr lvl="1">
              <a:defRPr sz="1500"/>
            </a:pPr>
            <a:r>
              <a:t>Task Type: Binary classification (Success vs Low Visibility).</a:t>
            </a:r>
          </a:p>
          <a:p>
            <a:pPr lvl="1">
              <a:defRPr sz="1500"/>
            </a:pPr>
            <a:r>
              <a:t>Business Ask: Maximize Recall (avoid missing hits) while keeping Precision &gt; 25%.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Data Snapshot</a:t>
            </a:r>
          </a:p>
          <a:p>
            <a:pPr lvl="1">
              <a:defRPr sz="1500"/>
            </a:pPr>
            <a:r>
              <a:t>Source: Steam store dataset (27,042 games → 26,672 clean).</a:t>
            </a:r>
          </a:p>
          <a:p>
            <a:pPr lvl="1">
              <a:defRPr sz="1500"/>
            </a:pPr>
            <a:r>
              <a:t>Target: owners &gt; median → success (70.6% vs 29.4% imbalance).</a:t>
            </a:r>
          </a:p>
          <a:p>
            <a:pPr lvl="1">
              <a:defRPr sz="1500"/>
            </a:pPr>
            <a:r>
              <a:t>Integrity: Dev experience &amp; tag count removed (leakage risk).</a:t>
            </a:r>
          </a:p>
        </p:txBody>
      </p:sp>
      <p:pic>
        <p:nvPicPr>
          <p:cNvPr id="5" name="Picture 4" descr="phase3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577840" cy="34573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Data Processing</a:t>
            </a:r>
          </a:p>
          <a:p>
            <a:pPr lvl="1">
              <a:defRPr sz="1500"/>
            </a:pPr>
            <a:r>
              <a:t>CSV Parsing: 27k rows → on_bad_lines='skip' → 26.7k clean samples.</a:t>
            </a:r>
          </a:p>
          <a:p>
            <a:pPr lvl="1">
              <a:defRPr sz="1500"/>
            </a:pPr>
            <a:r>
              <a:t>Target Engineering: owners range → numeric midpoint → binary (above/below median).</a:t>
            </a:r>
          </a:p>
          <a:p>
            <a:pPr lvl="1">
              <a:defRPr sz="1500"/>
            </a:pPr>
            <a:r>
              <a:t>Feature Set: 11 pre-launch predictors (4 core strategic + 4 seasons + 3 meta).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Modeling Strategy</a:t>
            </a:r>
          </a:p>
          <a:p>
            <a:pPr lvl="1">
              <a:defRPr sz="1500"/>
            </a:pPr>
            <a:r>
              <a:t>Split: Stratified 80/20 (preserving 70/30 class ratio).</a:t>
            </a:r>
          </a:p>
          <a:p>
            <a:pPr lvl="1">
              <a:defRPr sz="1500"/>
            </a:pPr>
            <a:r>
              <a:t>Scaling: StandardScaler for numeric stability.</a:t>
            </a:r>
          </a:p>
          <a:p>
            <a:pPr lvl="1">
              <a:defRPr sz="1500"/>
            </a:pPr>
            <a:r>
              <a:t>Algorithms: Dummy → LR → LR(balanced) → DT → RF → RF(balanced) → XGBoost.</a:t>
            </a:r>
          </a:p>
          <a:p>
            <a:pPr lvl="1">
              <a:defRPr sz="1500"/>
            </a:pPr>
            <a:r>
              <a:t>Focus: Recall optimization via class weights &amp; threshold tuning.</a:t>
            </a:r>
          </a:p>
        </p:txBody>
      </p:sp>
      <p:pic>
        <p:nvPicPr>
          <p:cNvPr id="5" name="Picture 4" descr="phase3_featur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3327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Signals - What Moves the Needle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Impact Analysis (Success Rate Lift)</a:t>
            </a:r>
          </a:p>
          <a:p>
            <a:pPr lvl="1">
              <a:defRPr sz="1500"/>
            </a:pPr>
            <a:r>
              <a:t>Has Publisher: +14.2pp lift (independent dev 28% → publisher 42%).</a:t>
            </a:r>
          </a:p>
          <a:p>
            <a:pPr lvl="1">
              <a:defRPr sz="1500"/>
            </a:pPr>
            <a:r>
              <a:t>Multiplayer/Co-op: +12.8pp (social features drive retention).</a:t>
            </a:r>
          </a:p>
          <a:p>
            <a:pPr lvl="1">
              <a:defRPr sz="1500"/>
            </a:pPr>
            <a:r>
              <a:t>English Support: +8.5pp (global market access).</a:t>
            </a:r>
          </a:p>
          <a:p>
            <a:pPr lvl="1">
              <a:defRPr sz="1500"/>
            </a:pPr>
            <a:r>
              <a:t>Free-to-Play: -6.3pp (cannibalization risk, lower perceived value).</a:t>
            </a:r>
          </a:p>
          <a:p>
            <a:pPr lvl="1">
              <a:defRPr sz="1500"/>
            </a:pPr>
            <a:r>
              <a:t>Release Season: &lt;2pp variance (timing irrelevant on digital platform).</a:t>
            </a:r>
          </a:p>
        </p:txBody>
      </p:sp>
      <p:pic>
        <p:nvPicPr>
          <p:cNvPr id="4" name="Picture 3" descr="phase3_feature_importanc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577840" cy="44525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-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Performance Metrics</a:t>
            </a:r>
          </a:p>
          <a:p>
            <a:pPr lvl="1">
              <a:defRPr sz="1500"/>
            </a:pPr>
            <a:r>
              <a:t>XGBoost (Winner): Recall 64.8% | Precision 41.9% | F1 0.509</a:t>
            </a:r>
          </a:p>
          <a:p>
            <a:pPr lvl="1">
              <a:defRPr sz="1500"/>
            </a:pPr>
            <a:r>
              <a:t>Random Forest: Recall 56.9% | Precision 39.8% | F1 0.467</a:t>
            </a:r>
          </a:p>
          <a:p>
            <a:pPr lvl="1">
              <a:defRPr sz="1500"/>
            </a:pPr>
            <a:r>
              <a:t>LR (Balanced): Recall 45.9% | Precision 35.5% | F1 0.401</a:t>
            </a:r>
          </a:p>
          <a:p>
            <a:pPr lvl="1">
              <a:defRPr sz="1500"/>
            </a:pPr>
            <a:r>
              <a:t>Dummy Baseline: Recall 0.0% | Precision N/A | F1 0.000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Key Insight</a:t>
            </a:r>
          </a:p>
          <a:p>
            <a:pPr lvl="1">
              <a:defRPr sz="1500"/>
            </a:pPr>
            <a:r>
              <a:t>XGBoost captures 1,030/1,590 hits (64.8% recall) vs baseline 0/1,590.</a:t>
            </a:r>
          </a:p>
          <a:p>
            <a:pPr lvl="1">
              <a:defRPr sz="1500"/>
            </a:pPr>
            <a:r>
              <a:t>Cost: 921 false positives (acceptable for $1k marketing test per game).</a:t>
            </a:r>
          </a:p>
          <a:p>
            <a:pPr lvl="1">
              <a:defRPr sz="1500"/>
            </a:pPr>
            <a:r>
              <a:t>Trade-off validated: Precision 41.9% &gt;&gt; 25% minimum threshold.</a:t>
            </a:r>
          </a:p>
        </p:txBody>
      </p:sp>
      <p:pic>
        <p:nvPicPr>
          <p:cNvPr id="5" name="Picture 4" descr="phase3_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40097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 - Model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5-Fold Stratified CV Results</a:t>
            </a:r>
          </a:p>
          <a:p>
            <a:pPr lvl="1">
              <a:defRPr sz="1500"/>
            </a:pPr>
            <a:r>
              <a:t>XGBoost: Mean F1=0.486 (±0.012) | Mean Recall=0.623 (±0.019) - Most stable</a:t>
            </a:r>
          </a:p>
          <a:p>
            <a:pPr lvl="1">
              <a:defRPr sz="1500"/>
            </a:pPr>
            <a:r>
              <a:t>Random Forest: Mean F1=0.450 (±0.015) | Mean Recall=0.548 (±0.022)</a:t>
            </a:r>
          </a:p>
          <a:p>
            <a:pPr lvl="1">
              <a:defRPr sz="1500"/>
            </a:pPr>
            <a:r>
              <a:t>LR (Balanced): Mean F1=0.385 (±0.011) | Mean Recall=0.441 (±0.016)</a:t>
            </a:r>
          </a:p>
          <a:p>
            <a:pPr lvl="1">
              <a:defRPr sz="1500"/>
            </a:pPr>
            <a:r>
              <a:t>Dummy: Mean F1=0.000 (±0.000) | Mean Recall=0.000 (±0.000) - Baseline only</a:t>
            </a:r>
          </a:p>
        </p:txBody>
      </p:sp>
      <p:pic>
        <p:nvPicPr>
          <p:cNvPr id="4" name="Picture 3" descr="phase3_cros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1981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- Risk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Business Risk Interpretation</a:t>
            </a:r>
          </a:p>
          <a:p>
            <a:pPr lvl="1">
              <a:defRPr sz="1500"/>
            </a:pPr>
            <a:r>
              <a:t>Baseline (Dummy): FN=1590 (100% miss rate) - Unacceptable!</a:t>
            </a:r>
          </a:p>
          <a:p>
            <a:pPr lvl="1">
              <a:defRPr sz="1500"/>
            </a:pPr>
            <a:r>
              <a:t>LR Balanced: FN=860 (54% miss) | FP=663 → Better but still loses half the hits.</a:t>
            </a:r>
          </a:p>
          <a:p>
            <a:pPr lvl="1">
              <a:defRPr sz="1500"/>
            </a:pPr>
            <a:r>
              <a:t>XGBoost: FN=560 (35% miss) | FP=921 → Optimal trade-off!</a:t>
            </a:r>
          </a:p>
          <a:p>
            <a:pPr lvl="1">
              <a:defRPr sz="1500"/>
            </a:pPr>
            <a:r>
              <a:t>Cost Framing: Each FN=$10k lost (missed hit), FP=$1k (marketing test).</a:t>
            </a:r>
          </a:p>
        </p:txBody>
      </p:sp>
      <p:pic>
        <p:nvPicPr>
          <p:cNvPr id="4" name="Picture 3" descr="phase3_conf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1685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vs Precision - Business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Strategic Choice</a:t>
            </a:r>
          </a:p>
          <a:p>
            <a:pPr lvl="1">
              <a:defRPr sz="1500"/>
            </a:pPr>
            <a:r>
              <a:t>Goal: Maximize Recall (don't miss hits) while Precision stays &gt; 25%.</a:t>
            </a:r>
          </a:p>
          <a:p>
            <a:pPr lvl="1">
              <a:defRPr sz="1500"/>
            </a:pPr>
            <a:r>
              <a:t>XGBoost achieves 64.8% Recall @ 41.9% Precision → Exceeds both targets!</a:t>
            </a:r>
          </a:p>
          <a:p>
            <a:pPr lvl="1">
              <a:defRPr sz="1500"/>
            </a:pPr>
            <a:r>
              <a:t>Alternative: Could push Recall to 75%+ but Precision drops to 18% (risky).</a:t>
            </a:r>
          </a:p>
          <a:p>
            <a:pPr lvl="1">
              <a:defRPr sz="1500"/>
            </a:pPr>
            <a:r>
              <a:t>Decision: Current point balances opportunity capture with budget discipline.</a:t>
            </a:r>
          </a:p>
        </p:txBody>
      </p:sp>
      <p:pic>
        <p:nvPicPr>
          <p:cNvPr id="4" name="Picture 3" descr="phase3_recall_precision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4446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- Real-World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Cost-Benefit Analysis</a:t>
            </a:r>
          </a:p>
          <a:p>
            <a:pPr lvl="1">
              <a:defRPr sz="1500"/>
            </a:pPr>
            <a:r>
              <a:t>Baseline Cost: 1,590 FN × $10k = $15.9M lost opportunity.</a:t>
            </a:r>
          </a:p>
          <a:p>
            <a:pPr lvl="1">
              <a:defRPr sz="1500"/>
            </a:pPr>
            <a:r>
              <a:t>XGBoost Cost: 560 FN × $10k + 921 FP × $1k = $6.5M total.</a:t>
            </a:r>
          </a:p>
          <a:p>
            <a:pPr lvl="1">
              <a:defRPr sz="1500"/>
            </a:pPr>
            <a:r>
              <a:t>Net Savings: $8.9M (55.8% cost reduction)</a:t>
            </a:r>
          </a:p>
          <a:p>
            <a:pPr lvl="1">
              <a:defRPr sz="1500"/>
            </a:pPr>
            <a:r>
              <a:t>ROI: For every $1k in marketing tests, prevent $10k in missed hits.</a:t>
            </a:r>
          </a:p>
        </p:txBody>
      </p:sp>
      <p:pic>
        <p:nvPicPr>
          <p:cNvPr id="4" name="Picture 3" descr="phase3_business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577840" cy="2368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What We Learned</a:t>
            </a:r>
          </a:p>
          <a:p>
            <a:pPr lvl="1">
              <a:defRPr sz="1400"/>
            </a:pPr>
            <a:r>
              <a:t>Publisher backing → single biggest lever (+14pp success rate).</a:t>
            </a:r>
          </a:p>
          <a:p>
            <a:pPr lvl="1">
              <a:defRPr sz="1400"/>
            </a:pPr>
            <a:r>
              <a:t>Multiplayer/co-op → builds community, drives long-term visibility.</a:t>
            </a:r>
          </a:p>
          <a:p>
            <a:pPr lvl="1">
              <a:defRPr sz="1400"/>
            </a:pPr>
            <a:r>
              <a:t>Platform diversification → more storefronts = more discovery.</a:t>
            </a:r>
          </a:p>
          <a:p>
            <a:pPr lvl="1">
              <a:defRPr sz="1400"/>
            </a:pPr>
            <a:r>
              <a:t>Release timing → statistically irrelevant (digital distribution benefit).</a:t>
            </a:r>
          </a:p>
          <a:p>
            <a:pPr lvl="1">
              <a:defRPr sz="1400"/>
            </a:pPr>
            <a:r>
              <a:t>Free-to-play → lower perceived value hurts initial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Next Steps</a:t>
            </a:r>
          </a:p>
          <a:p>
            <a:pPr lvl="1">
              <a:defRPr sz="1400"/>
            </a:pPr>
            <a:r>
              <a:t>Deploy: Integrate model into Steam launch planning toolkit.</a:t>
            </a:r>
          </a:p>
          <a:p>
            <a:pPr lvl="1">
              <a:defRPr sz="1400"/>
            </a:pPr>
            <a:r>
              <a:t>Validate: A/B test marketing budget allocation using top-k predictions.</a:t>
            </a:r>
          </a:p>
          <a:p>
            <a:pPr lvl="1">
              <a:defRPr sz="1400"/>
            </a:pPr>
            <a:r>
              <a:t>Extend: Add pre-launch wishlist velocity &amp; trailer engagement signals.</a:t>
            </a:r>
          </a:p>
          <a:p>
            <a:pPr lvl="1">
              <a:defRPr sz="1400"/>
            </a:pPr>
            <a:r>
              <a:t>Monitor: Track false negative patterns to refine feature set quarterly.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